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5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894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7863840" y="-731520"/>
            <a:ext cx="5029200" cy="5029200"/>
          </a:xfrm>
          <a:prstGeom prst="arc">
            <a:avLst/>
          </a:prstGeom>
          <a:noFill/>
          <a:ln w="25400">
            <a:solidFill>
              <a:srgbClr val="C7D2FE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Shape 2"/>
          <p:cNvSpPr/>
          <p:nvPr/>
        </p:nvSpPr>
        <p:spPr>
          <a:xfrm>
            <a:off x="-1005840" y="4114800"/>
            <a:ext cx="3657600" cy="3657600"/>
          </a:xfrm>
          <a:prstGeom prst="arc">
            <a:avLst/>
          </a:prstGeom>
          <a:noFill/>
          <a:ln w="25400">
            <a:solidFill>
              <a:srgbClr val="BFDBFE">
                <a:alpha val="95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777240" y="10972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AI-помощник для аналитика в блоке HR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04672" y="18745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</a:rPr>
              <a:t>Проактивный AI-агент для мониторинга, классификации и риск-анализа HR-сигналов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2788920"/>
            <a:ext cx="2057400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987552" y="2926080"/>
            <a:ext cx="1728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563EB"/>
                </a:solidFill>
              </a:rPr>
              <a:t>2–3 ч/день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87552" y="3319272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34155"/>
                </a:solidFill>
              </a:rPr>
              <a:t>ручной мониторинг HR-новостей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108960" y="2788920"/>
            <a:ext cx="2057400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3273552" y="2926080"/>
            <a:ext cx="1728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C3AED"/>
                </a:solidFill>
              </a:rPr>
              <a:t>7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73552" y="3319272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34155"/>
                </a:solidFill>
              </a:rPr>
              <a:t>HR-категорий риска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394960" y="2788920"/>
            <a:ext cx="2148840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5559552" y="2926080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B981"/>
                </a:solidFill>
              </a:rPr>
              <a:t>RSS + 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559552" y="331927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34155"/>
                </a:solidFill>
              </a:rPr>
              <a:t>сбор, перевод, инсайты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2960" y="53492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3"/>
                </a:solidFill>
              </a:rPr>
              <a:t>Команда 97 / ЛКП‑3337‑2026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566928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Заказчик: Сбербанк России, ПАО — филиал Уральский банк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778240" y="1251696"/>
            <a:ext cx="2926080" cy="333756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DE7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9113368" y="164820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F33"/>
                </a:solidFill>
              </a:rPr>
              <a:t>Идея продукта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47988" y="2161929"/>
            <a:ext cx="23317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</a:rPr>
              <a:t>Не чат-бот, который ждёт вопроса, а HR-радар, который сам находит внешние сигналы, оценивает риск и показывает, на что HR-команде реагировать первым.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62288" y="3831336"/>
            <a:ext cx="2103120" cy="292608"/>
          </a:xfrm>
          <a:prstGeom prst="roundRect">
            <a:avLst>
              <a:gd name="adj" fmla="val 4375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9181461" y="3902423"/>
            <a:ext cx="1956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563EB"/>
                </a:solidFill>
              </a:rPr>
              <a:t>State + Rules + Actions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Целевая аудитория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Три роли HR-пользователей и разные сценарии принятия решений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11556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685800" y="1508760"/>
            <a:ext cx="3337560" cy="4160520"/>
          </a:xfrm>
          <a:prstGeom prst="roundRect">
            <a:avLst>
              <a:gd name="adj" fmla="val 49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685800" y="1508760"/>
            <a:ext cx="64008" cy="4160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850392" y="16733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HR-аналитик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0392" y="2075688"/>
            <a:ext cx="3017520" cy="3447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Сценарий: ежедневный обзор рынка труда, зарплат, найма и сокращений.</a:t>
            </a:r>
            <a:endParaRPr lang="en-US" sz="960" dirty="0"/>
          </a:p>
          <a:p>
            <a:pPr marL="0" indent="0">
              <a:buNone/>
            </a:pP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Ценность: меньше ручного мониторинга, быстрее подготовка сводки.</a:t>
            </a:r>
            <a:endParaRPr lang="en-US" sz="960" dirty="0"/>
          </a:p>
          <a:p>
            <a:pPr marL="0" indent="0">
              <a:buNone/>
            </a:pP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KPI: время подготовки обзора, число найденных значимых сигналов, доля дублей после фильтрации.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434840" y="1508760"/>
            <a:ext cx="3337560" cy="4160520"/>
          </a:xfrm>
          <a:prstGeom prst="roundRect">
            <a:avLst>
              <a:gd name="adj" fmla="val 49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4434840" y="1508760"/>
            <a:ext cx="64008" cy="41605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4599432" y="16733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HR-партнёр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99432" y="2075688"/>
            <a:ext cx="3017520" cy="3447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Сценарий: отслеживание сигналов по культуре, выгоранию и навыкам для бизнес-подразделений.</a:t>
            </a:r>
            <a:endParaRPr lang="en-US" sz="960" dirty="0"/>
          </a:p>
          <a:p>
            <a:pPr marL="0" indent="0">
              <a:buNone/>
            </a:pP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Ценность: ранние предупреждения и рекомендации для команд.</a:t>
            </a:r>
            <a:endParaRPr lang="en-US" sz="960" dirty="0"/>
          </a:p>
          <a:p>
            <a:pPr marL="0" indent="0">
              <a:buNone/>
            </a:pP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KPI: скорость реакции на риски, релевантность инициатив, снижение риска выгорания.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8183880" y="1508760"/>
            <a:ext cx="3337560" cy="4160520"/>
          </a:xfrm>
          <a:prstGeom prst="roundRect">
            <a:avLst>
              <a:gd name="adj" fmla="val 49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8183880" y="1508760"/>
            <a:ext cx="64008" cy="4160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8348472" y="16733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HR-руководитель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48472" y="2075688"/>
            <a:ext cx="3017520" cy="3447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Сценарий: краткая управленческая сводка по самым важным рискам и трендам.</a:t>
            </a:r>
            <a:endParaRPr lang="en-US" sz="960" dirty="0"/>
          </a:p>
          <a:p>
            <a:pPr marL="0" indent="0">
              <a:buNone/>
            </a:pP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Ценность: единая картина для стратегических решений.</a:t>
            </a:r>
            <a:endParaRPr lang="en-US" sz="960" dirty="0"/>
          </a:p>
          <a:p>
            <a:pPr marL="0" indent="0">
              <a:buNone/>
            </a:pP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KPI: скорость принятия решений, своевременность эскалаций, качество HR-стратегии.</a:t>
            </a:r>
            <a:endParaRPr lang="en-US" sz="9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Потребности целевой аудитории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Какие боли закрывает MVP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11556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7772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</a:rPr>
              <a:t>Боль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5468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</a:rPr>
              <a:t>Почему мешает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609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</a:rPr>
              <a:t>Как закрываем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1673352"/>
            <a:ext cx="224028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3063240" y="1673352"/>
            <a:ext cx="388620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7269480" y="1673352"/>
            <a:ext cx="4160520" cy="749808"/>
          </a:xfrm>
          <a:prstGeom prst="roundRect">
            <a:avLst>
              <a:gd name="adj" fmla="val 21951"/>
            </a:avLst>
          </a:prstGeom>
          <a:solidFill>
            <a:srgbClr val="F0FDF4"/>
          </a:solidFill>
          <a:ln w="12700">
            <a:solidFill>
              <a:srgbClr val="CFEAD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841248" y="18562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3"/>
                </a:solidFill>
              </a:rPr>
              <a:t>Слишком много источников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46120" y="178308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HR-новости, исследования, карьерные медиа и профессиональные сообщества приходится смотреть вручную.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7452360" y="181051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Курируемый пул источников и единый цикл мониторинга.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898648" y="2048256"/>
            <a:ext cx="146304" cy="0"/>
          </a:xfrm>
          <a:prstGeom prst="line">
            <a:avLst/>
          </a:prstGeom>
          <a:noFill/>
          <a:ln w="17780">
            <a:solidFill>
              <a:srgbClr val="E2E8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5" name="Shape 13"/>
          <p:cNvSpPr/>
          <p:nvPr/>
        </p:nvSpPr>
        <p:spPr>
          <a:xfrm>
            <a:off x="7059168" y="2048256"/>
            <a:ext cx="192024" cy="0"/>
          </a:xfrm>
          <a:prstGeom prst="line">
            <a:avLst/>
          </a:prstGeom>
          <a:noFill/>
          <a:ln w="17780">
            <a:solidFill>
              <a:srgbClr val="E2E8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6" name="Shape 14"/>
          <p:cNvSpPr/>
          <p:nvPr/>
        </p:nvSpPr>
        <p:spPr>
          <a:xfrm>
            <a:off x="685800" y="2660904"/>
            <a:ext cx="224028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3063240" y="2660904"/>
            <a:ext cx="388620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7269480" y="2660904"/>
            <a:ext cx="416052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CFEAD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841248" y="284378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3"/>
                </a:solidFill>
              </a:rPr>
              <a:t>Англоязычные материалы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46120" y="2770632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Глобальные сигналы важны, но требуют перевода и адаптации терминологии.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7452360" y="279806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Перевод через GigaChat с сохранением HR-контекста.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2898648" y="3035808"/>
            <a:ext cx="146304" cy="0"/>
          </a:xfrm>
          <a:prstGeom prst="line">
            <a:avLst/>
          </a:prstGeom>
          <a:noFill/>
          <a:ln w="17780">
            <a:solidFill>
              <a:srgbClr val="E2E8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23" name="Shape 21"/>
          <p:cNvSpPr/>
          <p:nvPr/>
        </p:nvSpPr>
        <p:spPr>
          <a:xfrm>
            <a:off x="7059168" y="3035808"/>
            <a:ext cx="192024" cy="0"/>
          </a:xfrm>
          <a:prstGeom prst="line">
            <a:avLst/>
          </a:prstGeom>
          <a:noFill/>
          <a:ln w="17780">
            <a:solidFill>
              <a:srgbClr val="E2E8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24" name="Shape 22"/>
          <p:cNvSpPr/>
          <p:nvPr/>
        </p:nvSpPr>
        <p:spPr>
          <a:xfrm>
            <a:off x="685800" y="3648456"/>
            <a:ext cx="224028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Shape 23"/>
          <p:cNvSpPr/>
          <p:nvPr/>
        </p:nvSpPr>
        <p:spPr>
          <a:xfrm>
            <a:off x="3063240" y="3648456"/>
            <a:ext cx="388620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Shape 24"/>
          <p:cNvSpPr/>
          <p:nvPr/>
        </p:nvSpPr>
        <p:spPr>
          <a:xfrm>
            <a:off x="7269480" y="3648456"/>
            <a:ext cx="4160520" cy="749808"/>
          </a:xfrm>
          <a:prstGeom prst="roundRect">
            <a:avLst>
              <a:gd name="adj" fmla="val 21951"/>
            </a:avLst>
          </a:prstGeom>
          <a:solidFill>
            <a:srgbClr val="F0FDF4"/>
          </a:solidFill>
          <a:ln w="12700">
            <a:solidFill>
              <a:srgbClr val="CFEAD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5"/>
          <p:cNvSpPr/>
          <p:nvPr/>
        </p:nvSpPr>
        <p:spPr>
          <a:xfrm>
            <a:off x="841248" y="383133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3"/>
                </a:solidFill>
              </a:rPr>
              <a:t>Дубли и информационный шум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246120" y="3758184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Одна и та же новость появляется в разных источниках, аналитик тратит время повторно.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7452360" y="378561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Дедупликация и память обработанных URL.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2898648" y="4023360"/>
            <a:ext cx="146304" cy="0"/>
          </a:xfrm>
          <a:prstGeom prst="line">
            <a:avLst/>
          </a:prstGeom>
          <a:noFill/>
          <a:ln w="17780">
            <a:solidFill>
              <a:srgbClr val="E2E8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31" name="Shape 29"/>
          <p:cNvSpPr/>
          <p:nvPr/>
        </p:nvSpPr>
        <p:spPr>
          <a:xfrm>
            <a:off x="7059168" y="4023360"/>
            <a:ext cx="192024" cy="0"/>
          </a:xfrm>
          <a:prstGeom prst="line">
            <a:avLst/>
          </a:prstGeom>
          <a:noFill/>
          <a:ln w="17780">
            <a:solidFill>
              <a:srgbClr val="E2E8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32" name="Shape 30"/>
          <p:cNvSpPr/>
          <p:nvPr/>
        </p:nvSpPr>
        <p:spPr>
          <a:xfrm>
            <a:off x="685800" y="4636008"/>
            <a:ext cx="224028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3" name="Shape 31"/>
          <p:cNvSpPr/>
          <p:nvPr/>
        </p:nvSpPr>
        <p:spPr>
          <a:xfrm>
            <a:off x="3063240" y="4636008"/>
            <a:ext cx="388620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4" name="Shape 32"/>
          <p:cNvSpPr/>
          <p:nvPr/>
        </p:nvSpPr>
        <p:spPr>
          <a:xfrm>
            <a:off x="7269480" y="4636008"/>
            <a:ext cx="416052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CFEAD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5" name="Text 33"/>
          <p:cNvSpPr/>
          <p:nvPr/>
        </p:nvSpPr>
        <p:spPr>
          <a:xfrm>
            <a:off x="841248" y="48188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3"/>
                </a:solidFill>
              </a:rPr>
              <a:t>Нет приоритизации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46120" y="4745736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Неочевидно, что является просто новостью, а что — риском для HR-решений.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7452360" y="4773168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Риск-скор, алерты и тематические тренды.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898648" y="5010912"/>
            <a:ext cx="146304" cy="0"/>
          </a:xfrm>
          <a:prstGeom prst="line">
            <a:avLst/>
          </a:prstGeom>
          <a:noFill/>
          <a:ln w="17780">
            <a:solidFill>
              <a:srgbClr val="E2E8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39" name="Shape 37"/>
          <p:cNvSpPr/>
          <p:nvPr/>
        </p:nvSpPr>
        <p:spPr>
          <a:xfrm>
            <a:off x="7059168" y="5010912"/>
            <a:ext cx="192024" cy="0"/>
          </a:xfrm>
          <a:prstGeom prst="line">
            <a:avLst/>
          </a:prstGeom>
          <a:noFill/>
          <a:ln w="17780">
            <a:solidFill>
              <a:srgbClr val="E2E8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40" name="Shape 38"/>
          <p:cNvSpPr/>
          <p:nvPr/>
        </p:nvSpPr>
        <p:spPr>
          <a:xfrm>
            <a:off x="777240" y="5715000"/>
            <a:ext cx="2148840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1" name="Text 39"/>
          <p:cNvSpPr/>
          <p:nvPr/>
        </p:nvSpPr>
        <p:spPr>
          <a:xfrm>
            <a:off x="941832" y="5852160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563EB"/>
                </a:solidFill>
              </a:rPr>
              <a:t>2–3 часа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941832" y="624535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34155"/>
                </a:solidFill>
              </a:rPr>
              <a:t>экономимый ориентир ручного мониторинга в день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246120" y="58704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3"/>
                </a:solidFill>
              </a:rPr>
              <a:t>Ценность MVP: сократить путь от “прочитать много новостей” до “понять, какой HR-риск требует внимания”.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Конкуренты и аналоги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Сравнение с универсальными AI-инструментами и HR-аналитикой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11556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600200" cy="457200"/>
          </a:xfrm>
          <a:prstGeom prst="roundRect">
            <a:avLst>
              <a:gd name="adj" fmla="val 36000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76072" y="146304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3"/>
                </a:solidFill>
              </a:rPr>
              <a:t>Критерий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286000" y="1325880"/>
            <a:ext cx="2606040" cy="457200"/>
          </a:xfrm>
          <a:prstGeom prst="roundRect">
            <a:avLst>
              <a:gd name="adj" fmla="val 36000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2359152" y="1463040"/>
            <a:ext cx="24597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3"/>
                </a:solidFill>
              </a:rPr>
              <a:t>ChatGPT / Perplexity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166360" y="1325880"/>
            <a:ext cx="2423160" cy="457200"/>
          </a:xfrm>
          <a:prstGeom prst="roundRect">
            <a:avLst>
              <a:gd name="adj" fmla="val 36000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5239512" y="1463040"/>
            <a:ext cx="2276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3"/>
                </a:solidFill>
              </a:rPr>
              <a:t>hh.ru аналитика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818120" y="1325880"/>
            <a:ext cx="3749040" cy="457200"/>
          </a:xfrm>
          <a:prstGeom prst="roundRect">
            <a:avLst>
              <a:gd name="adj" fmla="val 36000"/>
            </a:avLst>
          </a:prstGeom>
          <a:solidFill>
            <a:srgbClr val="DBEAFE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7891272" y="1463040"/>
            <a:ext cx="36027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HR AI Agent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1828800"/>
            <a:ext cx="160020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576072" y="1929384"/>
            <a:ext cx="1453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B1F33"/>
                </a:solidFill>
              </a:rPr>
              <a:t>Фокус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2286000" y="1828800"/>
            <a:ext cx="260604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2359152" y="1929384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Ответы и поиск по запросу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5166360" y="1828800"/>
            <a:ext cx="242316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5239512" y="1929384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Рынок труда РФ: вакансии, резюме, зарплаты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7818120" y="1828800"/>
            <a:ext cx="3749040" cy="585216"/>
          </a:xfrm>
          <a:prstGeom prst="roundRect">
            <a:avLst>
              <a:gd name="adj" fmla="val 28125"/>
            </a:avLst>
          </a:prstGeom>
          <a:solidFill>
            <a:srgbClr val="F8FB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7891272" y="1929384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Мониторинг HR-сигналов и риск-алерты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02920" y="2542032"/>
            <a:ext cx="160020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576072" y="2642616"/>
            <a:ext cx="1453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B1F33"/>
                </a:solidFill>
              </a:rPr>
              <a:t>Проактивность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2286000" y="2542032"/>
            <a:ext cx="260604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22"/>
          <p:cNvSpPr/>
          <p:nvPr/>
        </p:nvSpPr>
        <p:spPr>
          <a:xfrm>
            <a:off x="2359152" y="2642616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Нет, нужен запрос</a:t>
            </a:r>
            <a:endParaRPr lang="en-US" sz="840" dirty="0"/>
          </a:p>
        </p:txBody>
      </p:sp>
      <p:sp>
        <p:nvSpPr>
          <p:cNvPr id="25" name="Shape 23"/>
          <p:cNvSpPr/>
          <p:nvPr/>
        </p:nvSpPr>
        <p:spPr>
          <a:xfrm>
            <a:off x="5166360" y="2542032"/>
            <a:ext cx="242316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Text 24"/>
          <p:cNvSpPr/>
          <p:nvPr/>
        </p:nvSpPr>
        <p:spPr>
          <a:xfrm>
            <a:off x="5239512" y="264261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Нет, пользователь сам смотрит показатели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7818120" y="2542032"/>
            <a:ext cx="3749040" cy="585216"/>
          </a:xfrm>
          <a:prstGeom prst="roundRect">
            <a:avLst>
              <a:gd name="adj" fmla="val 28125"/>
            </a:avLst>
          </a:prstGeom>
          <a:solidFill>
            <a:srgbClr val="F8FB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Text 26"/>
          <p:cNvSpPr/>
          <p:nvPr/>
        </p:nvSpPr>
        <p:spPr>
          <a:xfrm>
            <a:off x="7891272" y="2642616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Да, агент сам обрабатывает поток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502920" y="3255264"/>
            <a:ext cx="160020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Text 28"/>
          <p:cNvSpPr/>
          <p:nvPr/>
        </p:nvSpPr>
        <p:spPr>
          <a:xfrm>
            <a:off x="576072" y="3355848"/>
            <a:ext cx="1453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B1F33"/>
                </a:solidFill>
              </a:rPr>
              <a:t>HR-классификация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2286000" y="3255264"/>
            <a:ext cx="260604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Text 30"/>
          <p:cNvSpPr/>
          <p:nvPr/>
        </p:nvSpPr>
        <p:spPr>
          <a:xfrm>
            <a:off x="2359152" y="3355848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Через промпт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5166360" y="3255264"/>
            <a:ext cx="242316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4" name="Text 32"/>
          <p:cNvSpPr/>
          <p:nvPr/>
        </p:nvSpPr>
        <p:spPr>
          <a:xfrm>
            <a:off x="5239512" y="3355848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По рыночным показателям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7818120" y="3255264"/>
            <a:ext cx="3749040" cy="585216"/>
          </a:xfrm>
          <a:prstGeom prst="roundRect">
            <a:avLst>
              <a:gd name="adj" fmla="val 28125"/>
            </a:avLst>
          </a:prstGeom>
          <a:solidFill>
            <a:srgbClr val="F8FB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6" name="Text 34"/>
          <p:cNvSpPr/>
          <p:nvPr/>
        </p:nvSpPr>
        <p:spPr>
          <a:xfrm>
            <a:off x="7891272" y="3355848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7 встроенных HR-категорий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502920" y="3968496"/>
            <a:ext cx="160020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8" name="Text 36"/>
          <p:cNvSpPr/>
          <p:nvPr/>
        </p:nvSpPr>
        <p:spPr>
          <a:xfrm>
            <a:off x="576072" y="4069080"/>
            <a:ext cx="1453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B1F33"/>
                </a:solidFill>
              </a:rPr>
              <a:t>Память и тренды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2286000" y="3968496"/>
            <a:ext cx="260604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0" name="Text 38"/>
          <p:cNvSpPr/>
          <p:nvPr/>
        </p:nvSpPr>
        <p:spPr>
          <a:xfrm>
            <a:off x="2359152" y="4069080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Ограниченно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5166360" y="3968496"/>
            <a:ext cx="242316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2" name="Text 40"/>
          <p:cNvSpPr/>
          <p:nvPr/>
        </p:nvSpPr>
        <p:spPr>
          <a:xfrm>
            <a:off x="5239512" y="4069080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Есть рыночная динамика</a:t>
            </a:r>
            <a:endParaRPr lang="en-US" sz="840" dirty="0"/>
          </a:p>
        </p:txBody>
      </p:sp>
      <p:sp>
        <p:nvSpPr>
          <p:cNvPr id="43" name="Shape 41"/>
          <p:cNvSpPr/>
          <p:nvPr/>
        </p:nvSpPr>
        <p:spPr>
          <a:xfrm>
            <a:off x="7818120" y="3968496"/>
            <a:ext cx="3749040" cy="585216"/>
          </a:xfrm>
          <a:prstGeom prst="roundRect">
            <a:avLst>
              <a:gd name="adj" fmla="val 28125"/>
            </a:avLst>
          </a:prstGeom>
          <a:solidFill>
            <a:srgbClr val="F8FB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4" name="Text 42"/>
          <p:cNvSpPr/>
          <p:nvPr/>
        </p:nvSpPr>
        <p:spPr>
          <a:xfrm>
            <a:off x="7891272" y="4069080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Персистентное состояние: trends / insights / alerts</a:t>
            </a:r>
            <a:endParaRPr lang="en-US" sz="840" dirty="0"/>
          </a:p>
        </p:txBody>
      </p:sp>
      <p:sp>
        <p:nvSpPr>
          <p:cNvPr id="45" name="Shape 43"/>
          <p:cNvSpPr/>
          <p:nvPr/>
        </p:nvSpPr>
        <p:spPr>
          <a:xfrm>
            <a:off x="502920" y="4681728"/>
            <a:ext cx="160020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6" name="Text 44"/>
          <p:cNvSpPr/>
          <p:nvPr/>
        </p:nvSpPr>
        <p:spPr>
          <a:xfrm>
            <a:off x="576072" y="4782312"/>
            <a:ext cx="1453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0B1F33"/>
                </a:solidFill>
              </a:rPr>
              <a:t>Результат</a:t>
            </a:r>
            <a:endParaRPr lang="en-US" sz="840" dirty="0"/>
          </a:p>
        </p:txBody>
      </p:sp>
      <p:sp>
        <p:nvSpPr>
          <p:cNvPr id="47" name="Shape 45"/>
          <p:cNvSpPr/>
          <p:nvPr/>
        </p:nvSpPr>
        <p:spPr>
          <a:xfrm>
            <a:off x="2286000" y="4681728"/>
            <a:ext cx="260604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8" name="Text 46"/>
          <p:cNvSpPr/>
          <p:nvPr/>
        </p:nvSpPr>
        <p:spPr>
          <a:xfrm>
            <a:off x="2359152" y="4782312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Ответ, ссылки, резюме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5166360" y="4681728"/>
            <a:ext cx="2423160" cy="58521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0" name="Text 48"/>
          <p:cNvSpPr/>
          <p:nvPr/>
        </p:nvSpPr>
        <p:spPr>
          <a:xfrm>
            <a:off x="5239512" y="4782312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Статистика и отчёты</a:t>
            </a:r>
            <a:endParaRPr lang="en-US" sz="840" dirty="0"/>
          </a:p>
        </p:txBody>
      </p:sp>
      <p:sp>
        <p:nvSpPr>
          <p:cNvPr id="51" name="Shape 49"/>
          <p:cNvSpPr/>
          <p:nvPr/>
        </p:nvSpPr>
        <p:spPr>
          <a:xfrm>
            <a:off x="7818120" y="4681728"/>
            <a:ext cx="3749040" cy="585216"/>
          </a:xfrm>
          <a:prstGeom prst="roundRect">
            <a:avLst>
              <a:gd name="adj" fmla="val 28125"/>
            </a:avLst>
          </a:prstGeom>
          <a:solidFill>
            <a:srgbClr val="F8FB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2" name="Text 50"/>
          <p:cNvSpPr/>
          <p:nvPr/>
        </p:nvSpPr>
        <p:spPr>
          <a:xfrm>
            <a:off x="7891272" y="4782312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334155"/>
                </a:solidFill>
              </a:rPr>
              <a:t>Инсайты: что произошло → почему важно → что делать</a:t>
            </a:r>
            <a:endParaRPr lang="en-US" sz="840" dirty="0"/>
          </a:p>
        </p:txBody>
      </p:sp>
      <p:sp>
        <p:nvSpPr>
          <p:cNvPr id="53" name="Shape 51"/>
          <p:cNvSpPr/>
          <p:nvPr/>
        </p:nvSpPr>
        <p:spPr>
          <a:xfrm>
            <a:off x="685800" y="5715000"/>
            <a:ext cx="10835640" cy="502920"/>
          </a:xfrm>
          <a:prstGeom prst="roundRect">
            <a:avLst>
              <a:gd name="adj" fmla="val 32727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4" name="Text 52"/>
          <p:cNvSpPr/>
          <p:nvPr/>
        </p:nvSpPr>
        <p:spPr>
          <a:xfrm>
            <a:off x="914400" y="5870448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F46"/>
                </a:solidFill>
              </a:rPr>
              <a:t>УТП: специализированный HR-радар — курируемые источники, доменная классификация, риск-скор, дедупликация и память агента.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Предложенное решение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Как MVP превращает новостной поток в HR-решение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11556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1901952" cy="1143000"/>
          </a:xfrm>
          <a:prstGeom prst="roundRect">
            <a:avLst>
              <a:gd name="adj" fmla="val 14400"/>
            </a:avLst>
          </a:prstGeom>
          <a:solidFill>
            <a:srgbClr val="FFFFFF"/>
          </a:solidFill>
          <a:ln w="12700">
            <a:solidFill>
              <a:srgbClr val="DDE7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722376" y="1719072"/>
            <a:ext cx="420624" cy="42062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722376" y="1819656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252728" y="168249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3"/>
                </a:solidFill>
              </a:rPr>
              <a:t>Сбор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52728" y="20116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RSS-источники и демо-данные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14600" y="2084832"/>
            <a:ext cx="292608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1" name="Shape 9"/>
          <p:cNvSpPr/>
          <p:nvPr/>
        </p:nvSpPr>
        <p:spPr>
          <a:xfrm>
            <a:off x="2898648" y="1508760"/>
            <a:ext cx="1901952" cy="1143000"/>
          </a:xfrm>
          <a:prstGeom prst="roundRect">
            <a:avLst>
              <a:gd name="adj" fmla="val 14400"/>
            </a:avLst>
          </a:prstGeom>
          <a:solidFill>
            <a:srgbClr val="FFFFFF"/>
          </a:solidFill>
          <a:ln w="12700">
            <a:solidFill>
              <a:srgbClr val="DDE7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Shape 10"/>
          <p:cNvSpPr/>
          <p:nvPr/>
        </p:nvSpPr>
        <p:spPr>
          <a:xfrm>
            <a:off x="3026664" y="1719072"/>
            <a:ext cx="420624" cy="42062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3026664" y="1819656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57016" y="168249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3"/>
                </a:solidFill>
              </a:rPr>
              <a:t>AI-обработка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57016" y="20116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перевод и классификация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18888" y="2084832"/>
            <a:ext cx="292608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5202936" y="1508760"/>
            <a:ext cx="1901952" cy="1143000"/>
          </a:xfrm>
          <a:prstGeom prst="roundRect">
            <a:avLst>
              <a:gd name="adj" fmla="val 14400"/>
            </a:avLst>
          </a:prstGeom>
          <a:solidFill>
            <a:srgbClr val="FFFFFF"/>
          </a:solidFill>
          <a:ln w="12700">
            <a:solidFill>
              <a:srgbClr val="DDE7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5330952" y="1719072"/>
            <a:ext cx="420624" cy="42062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5330952" y="1819656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61304" y="168249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3"/>
                </a:solidFill>
              </a:rPr>
              <a:t>Фильтрация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861304" y="20116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дедупликация и память URL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123176" y="2084832"/>
            <a:ext cx="292608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23" name="Shape 21"/>
          <p:cNvSpPr/>
          <p:nvPr/>
        </p:nvSpPr>
        <p:spPr>
          <a:xfrm>
            <a:off x="7507224" y="1508760"/>
            <a:ext cx="1901952" cy="1143000"/>
          </a:xfrm>
          <a:prstGeom prst="roundRect">
            <a:avLst>
              <a:gd name="adj" fmla="val 14400"/>
            </a:avLst>
          </a:prstGeom>
          <a:solidFill>
            <a:srgbClr val="FFFFFF"/>
          </a:solidFill>
          <a:ln w="12700">
            <a:solidFill>
              <a:srgbClr val="DDE7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Shape 22"/>
          <p:cNvSpPr/>
          <p:nvPr/>
        </p:nvSpPr>
        <p:spPr>
          <a:xfrm>
            <a:off x="7635240" y="1719072"/>
            <a:ext cx="420624" cy="42062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7635240" y="1819656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165592" y="168249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3"/>
                </a:solidFill>
              </a:rPr>
              <a:t>Оценка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165592" y="20116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риск-скор и аномалии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427464" y="2084832"/>
            <a:ext cx="292608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29" name="Shape 27"/>
          <p:cNvSpPr/>
          <p:nvPr/>
        </p:nvSpPr>
        <p:spPr>
          <a:xfrm>
            <a:off x="9811512" y="1508760"/>
            <a:ext cx="1901952" cy="1143000"/>
          </a:xfrm>
          <a:prstGeom prst="roundRect">
            <a:avLst>
              <a:gd name="adj" fmla="val 14400"/>
            </a:avLst>
          </a:prstGeom>
          <a:solidFill>
            <a:srgbClr val="FFFFFF"/>
          </a:solidFill>
          <a:ln w="12700">
            <a:solidFill>
              <a:srgbClr val="DDE7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Shape 28"/>
          <p:cNvSpPr/>
          <p:nvPr/>
        </p:nvSpPr>
        <p:spPr>
          <a:xfrm>
            <a:off x="9939528" y="1719072"/>
            <a:ext cx="420624" cy="42062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1" name="Text 29"/>
          <p:cNvSpPr/>
          <p:nvPr/>
        </p:nvSpPr>
        <p:spPr>
          <a:xfrm>
            <a:off x="9939528" y="1819656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469880" y="168249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3"/>
                </a:solidFill>
              </a:rPr>
              <a:t>Действие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469880" y="20116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инсайты и алерты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77240" y="3246120"/>
            <a:ext cx="3246120" cy="2148840"/>
          </a:xfrm>
          <a:prstGeom prst="roundRect">
            <a:avLst>
              <a:gd name="adj" fmla="val 766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5" name="Shape 33"/>
          <p:cNvSpPr/>
          <p:nvPr/>
        </p:nvSpPr>
        <p:spPr>
          <a:xfrm>
            <a:off x="777240" y="3246120"/>
            <a:ext cx="64008" cy="2148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6" name="Text 34"/>
          <p:cNvSpPr/>
          <p:nvPr/>
        </p:nvSpPr>
        <p:spPr>
          <a:xfrm>
            <a:off x="941832" y="34107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Преимущества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41832" y="3813048"/>
            <a:ext cx="2926080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автоматизация мониторинга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персонализация под роль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объяснимый риск-скор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единый интерфейс для инсайтов и алертов</a:t>
            </a:r>
            <a:endParaRPr lang="en-US" sz="960" dirty="0"/>
          </a:p>
        </p:txBody>
      </p:sp>
      <p:sp>
        <p:nvSpPr>
          <p:cNvPr id="38" name="Shape 36"/>
          <p:cNvSpPr/>
          <p:nvPr/>
        </p:nvSpPr>
        <p:spPr>
          <a:xfrm>
            <a:off x="4434840" y="3246120"/>
            <a:ext cx="3246120" cy="2148840"/>
          </a:xfrm>
          <a:prstGeom prst="roundRect">
            <a:avLst>
              <a:gd name="adj" fmla="val 766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9" name="Shape 37"/>
          <p:cNvSpPr/>
          <p:nvPr/>
        </p:nvSpPr>
        <p:spPr>
          <a:xfrm>
            <a:off x="4434840" y="3246120"/>
            <a:ext cx="64008" cy="2148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0" name="Text 38"/>
          <p:cNvSpPr/>
          <p:nvPr/>
        </p:nvSpPr>
        <p:spPr>
          <a:xfrm>
            <a:off x="4599432" y="34107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Недостатки MVP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599432" y="3813048"/>
            <a:ext cx="2926080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sz="960">
                <a:solidFill>
                  <a:srgbClr val="334155"/>
                </a:solidFill>
              </a:rPr>
              <a:t>• ограниченный пул внешних API</a:t>
            </a:r>
          </a:p>
          <a:p>
            <a:r>
              <a:rPr sz="960">
                <a:solidFill>
                  <a:srgbClr val="334155"/>
                </a:solidFill>
              </a:rPr>
              <a:t>• локальное JSON-состояние</a:t>
            </a:r>
          </a:p>
          <a:p>
            <a:r>
              <a:rPr sz="960">
                <a:solidFill>
                  <a:srgbClr val="334155"/>
                </a:solidFill>
              </a:rPr>
              <a:t>• датасет разметки на стадии расширения</a:t>
            </a:r>
          </a:p>
          <a:p>
            <a:r>
              <a:rPr sz="960">
                <a:solidFill>
                  <a:srgbClr val="334155"/>
                </a:solidFill>
              </a:rPr>
              <a:t>• Streamlit-сервер MVP, не промышленный стек</a:t>
            </a:r>
          </a:p>
        </p:txBody>
      </p:sp>
      <p:sp>
        <p:nvSpPr>
          <p:cNvPr id="42" name="Shape 40"/>
          <p:cNvSpPr/>
          <p:nvPr/>
        </p:nvSpPr>
        <p:spPr>
          <a:xfrm>
            <a:off x="8092440" y="3246120"/>
            <a:ext cx="3246120" cy="2148840"/>
          </a:xfrm>
          <a:prstGeom prst="roundRect">
            <a:avLst>
              <a:gd name="adj" fmla="val 766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3" name="Shape 41"/>
          <p:cNvSpPr/>
          <p:nvPr/>
        </p:nvSpPr>
        <p:spPr>
          <a:xfrm>
            <a:off x="8092440" y="3246120"/>
            <a:ext cx="64008" cy="2148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4" name="Text 42"/>
          <p:cNvSpPr/>
          <p:nvPr/>
        </p:nvSpPr>
        <p:spPr>
          <a:xfrm>
            <a:off x="8257032" y="34107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Уникальность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257032" y="3813048"/>
            <a:ext cx="2926080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sz="960">
                <a:solidFill>
                  <a:srgbClr val="334155"/>
                </a:solidFill>
              </a:rPr>
              <a:t>• не ждёт промпта</a:t>
            </a:r>
          </a:p>
          <a:p>
            <a:r>
              <a:rPr sz="960">
                <a:solidFill>
                  <a:srgbClr val="334155"/>
                </a:solidFill>
              </a:rPr>
              <a:t>• работает с HR-категориями</a:t>
            </a:r>
          </a:p>
          <a:p>
            <a:r>
              <a:rPr sz="960">
                <a:solidFill>
                  <a:srgbClr val="334155"/>
                </a:solidFill>
              </a:rPr>
              <a:t>• запоминает обработанные материалы</a:t>
            </a:r>
          </a:p>
          <a:p>
            <a:r>
              <a:rPr sz="960">
                <a:solidFill>
                  <a:srgbClr val="334155"/>
                </a:solidFill>
              </a:rPr>
              <a:t>• выдаёт не текстовый ответ, а приоритетный сигнал</a:t>
            </a:r>
          </a:p>
          <a:p>
            <a:r>
              <a:rPr sz="960">
                <a:solidFill>
                  <a:srgbClr val="334155"/>
                </a:solidFill>
              </a:rPr>
              <a:t>• диалог «Спроси у HR-агента» поверх собранного состояния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Методология источников и классификации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Почему данные контролируемые, а не случайный веб-поиск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11556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64008" cy="20574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850392" y="158191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Курируемый пул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0392" y="1984248"/>
            <a:ext cx="3337560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sz="960">
                <a:solidFill>
                  <a:srgbClr val="334155"/>
                </a:solidFill>
              </a:rPr>
              <a:t>Каталог содержит 26 источников: 14 активных и 12 кандидатов на A/B-тестирование. У каждого зафиксированы quality_score, topics_covered, region и обоснование выбора rationale.</a:t>
            </a:r>
          </a:p>
        </p:txBody>
      </p:sp>
      <p:sp>
        <p:nvSpPr>
          <p:cNvPr id="9" name="Shape 7"/>
          <p:cNvSpPr/>
          <p:nvPr/>
        </p:nvSpPr>
        <p:spPr>
          <a:xfrm>
            <a:off x="4526280" y="141732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4526280" y="1417320"/>
            <a:ext cx="64008" cy="20574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4690872" y="15819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Критерии качества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90872" y="1984248"/>
            <a:ext cx="3246120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Релевантность HR, авторитетность, регулярность обновлений, доступность RSS/API, уровень шума, география, язык, доля дублей.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8275320" y="1417320"/>
            <a:ext cx="324612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8275320" y="1417320"/>
            <a:ext cx="64008" cy="2057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8439912" y="15819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7 HR-категорий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39912" y="1984248"/>
            <a:ext cx="2926080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hiring, layoffs, salaries, skills, burnout, culture, diversity. Этого достаточно для понятной MVP-классификации без перегруза интерфейса.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914400" y="3977640"/>
            <a:ext cx="1234440" cy="292608"/>
          </a:xfrm>
          <a:prstGeom prst="roundRect">
            <a:avLst>
              <a:gd name="adj" fmla="val 4375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987552" y="4041648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563EB"/>
                </a:solidFill>
              </a:rPr>
              <a:t>hiring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87168" y="3977640"/>
            <a:ext cx="1234440" cy="292608"/>
          </a:xfrm>
          <a:prstGeom prst="roundRect">
            <a:avLst>
              <a:gd name="adj" fmla="val 4375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2560320" y="4041648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layoffs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59936" y="3977640"/>
            <a:ext cx="1234440" cy="292608"/>
          </a:xfrm>
          <a:prstGeom prst="roundRect">
            <a:avLst>
              <a:gd name="adj" fmla="val 4375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4133088" y="4041648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563EB"/>
                </a:solidFill>
              </a:rPr>
              <a:t>salaries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632704" y="3977640"/>
            <a:ext cx="1234440" cy="292608"/>
          </a:xfrm>
          <a:prstGeom prst="roundRect">
            <a:avLst>
              <a:gd name="adj" fmla="val 4375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22"/>
          <p:cNvSpPr/>
          <p:nvPr/>
        </p:nvSpPr>
        <p:spPr>
          <a:xfrm>
            <a:off x="5705856" y="4041648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skills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205472" y="3977640"/>
            <a:ext cx="1234440" cy="292608"/>
          </a:xfrm>
          <a:prstGeom prst="roundRect">
            <a:avLst>
              <a:gd name="adj" fmla="val 4375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Text 24"/>
          <p:cNvSpPr/>
          <p:nvPr/>
        </p:nvSpPr>
        <p:spPr>
          <a:xfrm>
            <a:off x="7278624" y="4041648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563EB"/>
                </a:solidFill>
              </a:rPr>
              <a:t>burnout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778240" y="3977640"/>
            <a:ext cx="1234440" cy="292608"/>
          </a:xfrm>
          <a:prstGeom prst="roundRect">
            <a:avLst>
              <a:gd name="adj" fmla="val 4375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Text 26"/>
          <p:cNvSpPr/>
          <p:nvPr/>
        </p:nvSpPr>
        <p:spPr>
          <a:xfrm>
            <a:off x="8851392" y="4041648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culture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0351008" y="3977640"/>
            <a:ext cx="1234440" cy="292608"/>
          </a:xfrm>
          <a:prstGeom prst="roundRect">
            <a:avLst>
              <a:gd name="adj" fmla="val 4375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Text 28"/>
          <p:cNvSpPr/>
          <p:nvPr/>
        </p:nvSpPr>
        <p:spPr>
          <a:xfrm>
            <a:off x="10424160" y="4041648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563EB"/>
                </a:solidFill>
              </a:rPr>
              <a:t>diversity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85800" y="4800600"/>
            <a:ext cx="1083564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Text 30"/>
          <p:cNvSpPr/>
          <p:nvPr/>
        </p:nvSpPr>
        <p:spPr>
          <a:xfrm>
            <a:off x="960120" y="5065776"/>
            <a:ext cx="10287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B1F33"/>
                </a:solidFill>
              </a:rPr>
              <a:t>Почему не “весь интернет”: широкий поиск даёт больше шума и дублей. Для HR-аналитика важнее управляемое качество источников и повторяемый сценарий анализа.</a:t>
            </a:r>
            <a:endParaRPr lang="en-US" sz="11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Архитектура решения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Обоснованный агентный цикл: State + Rules + Actions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11556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1874520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DE7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704088" y="1737360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3"/>
                </a:solidFill>
              </a:rPr>
              <a:t>Источники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04088" y="202996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64748B"/>
                </a:solidFill>
              </a:rPr>
              <a:t>RSS / demo data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2496312" y="1984248"/>
            <a:ext cx="310896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2862072" y="1508760"/>
            <a:ext cx="1874520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DE7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2971800" y="1737360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3"/>
                </a:solidFill>
              </a:rPr>
              <a:t>Processing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71800" y="202996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64748B"/>
                </a:solidFill>
              </a:rPr>
              <a:t>язык, перевод, классификация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4764024" y="1984248"/>
            <a:ext cx="310896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3" name="Shape 11"/>
          <p:cNvSpPr/>
          <p:nvPr/>
        </p:nvSpPr>
        <p:spPr>
          <a:xfrm>
            <a:off x="5129784" y="1508760"/>
            <a:ext cx="1874520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DE7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5239512" y="1737360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3"/>
                </a:solidFill>
              </a:rPr>
              <a:t>Rules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39512" y="202996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64748B"/>
                </a:solidFill>
              </a:rPr>
              <a:t>риск-скор, пороги, аномалии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7031736" y="1984248"/>
            <a:ext cx="310896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7397496" y="1508760"/>
            <a:ext cx="1874520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DE7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7507224" y="1737360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3"/>
                </a:solidFill>
              </a:rPr>
              <a:t>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07224" y="202996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64748B"/>
                </a:solidFill>
              </a:rPr>
              <a:t>processed URLs, trends, insights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9299448" y="1984248"/>
            <a:ext cx="310896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21" name="Shape 19"/>
          <p:cNvSpPr/>
          <p:nvPr/>
        </p:nvSpPr>
        <p:spPr>
          <a:xfrm>
            <a:off x="9665208" y="1508760"/>
            <a:ext cx="1874520" cy="9601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DE7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9774936" y="1737360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3"/>
                </a:solidFill>
              </a:rPr>
              <a:t>Dashboard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774936" y="202996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64748B"/>
                </a:solidFill>
              </a:rPr>
              <a:t>инсайты, алерты, тренды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777240" y="3063240"/>
            <a:ext cx="3337560" cy="2240280"/>
          </a:xfrm>
          <a:prstGeom prst="roundRect">
            <a:avLst>
              <a:gd name="adj" fmla="val 734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Shape 23"/>
          <p:cNvSpPr/>
          <p:nvPr/>
        </p:nvSpPr>
        <p:spPr>
          <a:xfrm>
            <a:off x="777240" y="3063240"/>
            <a:ext cx="64008" cy="22402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Text 24"/>
          <p:cNvSpPr/>
          <p:nvPr/>
        </p:nvSpPr>
        <p:spPr>
          <a:xfrm>
            <a:off x="941832" y="3227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Сильные места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41832" y="3630168"/>
            <a:ext cx="3017520" cy="1527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простая модульная структура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понятная логика агента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можно отдельно улучшать источники, AI и правила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состояние позволяет не обрабатывать одно и то же повторно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4434840" y="3063240"/>
            <a:ext cx="3337560" cy="2240280"/>
          </a:xfrm>
          <a:prstGeom prst="roundRect">
            <a:avLst>
              <a:gd name="adj" fmla="val 734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Shape 27"/>
          <p:cNvSpPr/>
          <p:nvPr/>
        </p:nvSpPr>
        <p:spPr>
          <a:xfrm>
            <a:off x="4434840" y="3063240"/>
            <a:ext cx="64008" cy="2240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Text 28"/>
          <p:cNvSpPr/>
          <p:nvPr/>
        </p:nvSpPr>
        <p:spPr>
          <a:xfrm>
            <a:off x="4599432" y="3227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Слабые места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99432" y="3630168"/>
            <a:ext cx="3017520" cy="1527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JSON не подходит для промышленной нагрузки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ручной запуск не полностью проактивен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rule-based риск-скор требует валидации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внешние API требуют контроля доступности</a:t>
            </a:r>
            <a:endParaRPr lang="en-US" sz="960" dirty="0"/>
          </a:p>
        </p:txBody>
      </p:sp>
      <p:sp>
        <p:nvSpPr>
          <p:cNvPr id="32" name="Shape 30"/>
          <p:cNvSpPr/>
          <p:nvPr/>
        </p:nvSpPr>
        <p:spPr>
          <a:xfrm>
            <a:off x="8092440" y="3063240"/>
            <a:ext cx="3337560" cy="2240280"/>
          </a:xfrm>
          <a:prstGeom prst="roundRect">
            <a:avLst>
              <a:gd name="adj" fmla="val 734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3" name="Shape 31"/>
          <p:cNvSpPr/>
          <p:nvPr/>
        </p:nvSpPr>
        <p:spPr>
          <a:xfrm>
            <a:off x="8092440" y="3063240"/>
            <a:ext cx="64008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4" name="Text 32"/>
          <p:cNvSpPr/>
          <p:nvPr/>
        </p:nvSpPr>
        <p:spPr>
          <a:xfrm>
            <a:off x="8257032" y="3227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Как масштабировать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257032" y="3630168"/>
            <a:ext cx="3017520" cy="1527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PostgreSQL / Redis для состояния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Celery / cron для фонового запуска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авторизация и роли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очереди обработки источников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• метрики качества классификации</a:t>
            </a:r>
            <a:endParaRPr lang="en-US" sz="9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Применение ИИ в проекте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GigaChat используется там, где нужна языковая и смысловая обработка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11556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2560320" cy="141732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64008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896112" y="15819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1. Перевод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1984248"/>
            <a:ext cx="224028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Англоязычные HR-новости переводятся на русский с сохранением терминологии.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560320" cy="141732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3611880" y="1417320"/>
            <a:ext cx="64008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3776472" y="15819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2. Классификация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76472" y="1984248"/>
            <a:ext cx="224028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Материалы распределяются по HR-темам, чтобы пользователь видел не ленту, а структуру.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492240" y="1417320"/>
            <a:ext cx="2560320" cy="141732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6492240" y="1417320"/>
            <a:ext cx="64008" cy="1417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6656832" y="15819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3. Инсайты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56832" y="1984248"/>
            <a:ext cx="224028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AI формирует ответ в формате: что произошло → почему важно → что делать.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9372600" y="1417320"/>
            <a:ext cx="2103120" cy="141732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9372600" y="1417320"/>
            <a:ext cx="64008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9537192" y="1581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4. Тренды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537192" y="1984248"/>
            <a:ext cx="178308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AI помогает интерпретировать изменения и объяснять динамику рисков.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77240" y="3474720"/>
            <a:ext cx="10698480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1051560" y="3803904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3"/>
                </a:solidFill>
              </a:rPr>
              <a:t>Почему так: LLM не заменяет всю систему, а решает конкретные задачи обработки языка. Бизнес-логика остаётся в правилах, состоянии и конфигурации агента.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103120" y="51389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Доработки за итерацию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11556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2423160" cy="566928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3273552" y="1417320"/>
            <a:ext cx="8183880" cy="566928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868680" y="1600200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040" b="1">
                <a:solidFill>
                  <a:srgbClr val="0B1F33"/>
                </a:solidFill>
              </a:rPr>
              <a:t>RAG-чат «Спроси у HR-агента»</a:t>
            </a:r>
          </a:p>
        </p:txBody>
      </p:sp>
      <p:sp>
        <p:nvSpPr>
          <p:cNvPr id="8" name="Text 6"/>
          <p:cNvSpPr/>
          <p:nvPr/>
        </p:nvSpPr>
        <p:spPr>
          <a:xfrm>
            <a:off x="3520440" y="1563624"/>
            <a:ext cx="7635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940">
                <a:solidFill>
                  <a:srgbClr val="334155"/>
                </a:solidFill>
              </a:rPr>
              <a:t>Диалоговая прослойка поверх собранного состояния агента. GigaChat отвечает строго по текущим инсайтам/алертам/наблюдениям. Закрывает сценарий «уточнить ситуацию» без нового цикла.</a:t>
            </a:r>
          </a:p>
        </p:txBody>
      </p:sp>
      <p:sp>
        <p:nvSpPr>
          <p:cNvPr id="9" name="Shape 7"/>
          <p:cNvSpPr/>
          <p:nvPr/>
        </p:nvSpPr>
        <p:spPr>
          <a:xfrm>
            <a:off x="685800" y="2212848"/>
            <a:ext cx="2423160" cy="566928"/>
          </a:xfrm>
          <a:prstGeom prst="roundRect">
            <a:avLst>
              <a:gd name="adj" fmla="val 2903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3273552" y="2212848"/>
            <a:ext cx="8183880" cy="566928"/>
          </a:xfrm>
          <a:prstGeom prst="roundRect">
            <a:avLst>
              <a:gd name="adj" fmla="val 2903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868680" y="2395728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040" b="1">
                <a:solidFill>
                  <a:srgbClr val="0B1F33"/>
                </a:solidFill>
              </a:rPr>
              <a:t>Экспорт ежедневного отчёта</a:t>
            </a:r>
          </a:p>
        </p:txBody>
      </p:sp>
      <p:sp>
        <p:nvSpPr>
          <p:cNvPr id="12" name="Text 10"/>
          <p:cNvSpPr/>
          <p:nvPr/>
        </p:nvSpPr>
        <p:spPr>
          <a:xfrm>
            <a:off x="3520440" y="2359152"/>
            <a:ext cx="7635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940">
                <a:solidFill>
                  <a:srgbClr val="334155"/>
                </a:solidFill>
              </a:rPr>
              <a:t>Кнопки в дашборде: Markdown и PDF. Готовая выжимка для HR-руководителя — критические события за 24 ч, топ-направления, инсайты, метрики. Один клик — pdf на руководителя.</a:t>
            </a:r>
          </a:p>
        </p:txBody>
      </p:sp>
      <p:sp>
        <p:nvSpPr>
          <p:cNvPr id="13" name="Shape 11"/>
          <p:cNvSpPr/>
          <p:nvPr/>
        </p:nvSpPr>
        <p:spPr>
          <a:xfrm>
            <a:off x="685800" y="3008376"/>
            <a:ext cx="2423160" cy="566928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3273552" y="3008376"/>
            <a:ext cx="8183880" cy="566928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868680" y="3191256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040" b="1">
                <a:solidFill>
                  <a:srgbClr val="0B1F33"/>
                </a:solidFill>
              </a:rPr>
              <a:t>Поиск и тематический фильтр</a:t>
            </a:r>
          </a:p>
        </p:txBody>
      </p:sp>
      <p:sp>
        <p:nvSpPr>
          <p:cNvPr id="16" name="Text 14"/>
          <p:cNvSpPr/>
          <p:nvPr/>
        </p:nvSpPr>
        <p:spPr>
          <a:xfrm>
            <a:off x="3520440" y="3154680"/>
            <a:ext cx="7635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940">
                <a:solidFill>
                  <a:srgbClr val="334155"/>
                </a:solidFill>
              </a:rPr>
              <a:t>По уже обработанным новостям: ключевое слово + multiselect по HR-темам. AND-семантика, регистронезависимо. Аналитик сразу находит конкретный сигнал среди сотен наблюдений.</a:t>
            </a:r>
          </a:p>
        </p:txBody>
      </p:sp>
      <p:sp>
        <p:nvSpPr>
          <p:cNvPr id="17" name="Shape 15"/>
          <p:cNvSpPr/>
          <p:nvPr/>
        </p:nvSpPr>
        <p:spPr>
          <a:xfrm>
            <a:off x="685800" y="3803904"/>
            <a:ext cx="2423160" cy="566928"/>
          </a:xfrm>
          <a:prstGeom prst="roundRect">
            <a:avLst>
              <a:gd name="adj" fmla="val 2903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3273552" y="3803904"/>
            <a:ext cx="8183880" cy="566928"/>
          </a:xfrm>
          <a:prstGeom prst="roundRect">
            <a:avLst>
              <a:gd name="adj" fmla="val 2903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868680" y="3986784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040" b="1">
                <a:solidFill>
                  <a:srgbClr val="0B1F33"/>
                </a:solidFill>
              </a:rPr>
              <a:t>Cohen's κ = 0.87 на дашборде</a:t>
            </a:r>
          </a:p>
        </p:txBody>
      </p:sp>
      <p:sp>
        <p:nvSpPr>
          <p:cNvPr id="20" name="Text 18"/>
          <p:cNvSpPr/>
          <p:nvPr/>
        </p:nvSpPr>
        <p:spPr>
          <a:xfrm>
            <a:off x="3520440" y="3950208"/>
            <a:ext cx="7635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940">
                <a:solidFill>
                  <a:srgbClr val="334155"/>
                </a:solidFill>
              </a:rPr>
              <a:t>Измеримое качество классификатора: κ=0.867, accuracy=88.6% на 35 размеченных HR-новостях. Шкала Landis &amp; Koch — почти идеальное согласие. Видно прямо на дашборде, не «модель умно работает», а число.</a:t>
            </a:r>
          </a:p>
        </p:txBody>
      </p:sp>
      <p:sp>
        <p:nvSpPr>
          <p:cNvPr id="21" name="Shape 19"/>
          <p:cNvSpPr/>
          <p:nvPr/>
        </p:nvSpPr>
        <p:spPr>
          <a:xfrm>
            <a:off x="685800" y="4599432"/>
            <a:ext cx="2423160" cy="566928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Shape 20"/>
          <p:cNvSpPr/>
          <p:nvPr/>
        </p:nvSpPr>
        <p:spPr>
          <a:xfrm>
            <a:off x="3273552" y="4599432"/>
            <a:ext cx="8183880" cy="566928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1"/>
          <p:cNvSpPr/>
          <p:nvPr/>
        </p:nvSpPr>
        <p:spPr>
          <a:xfrm>
            <a:off x="868680" y="4782312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040" b="1">
                <a:solidFill>
                  <a:srgbClr val="0B1F33"/>
                </a:solidFill>
              </a:rPr>
              <a:t>Реально проактивный режим</a:t>
            </a:r>
          </a:p>
        </p:txBody>
      </p:sp>
      <p:sp>
        <p:nvSpPr>
          <p:cNvPr id="24" name="Text 22"/>
          <p:cNvSpPr/>
          <p:nvPr/>
        </p:nvSpPr>
        <p:spPr>
          <a:xfrm>
            <a:off x="3520440" y="4745736"/>
            <a:ext cx="7635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940">
                <a:solidFill>
                  <a:srgbClr val="334155"/>
                </a:solidFill>
              </a:rPr>
              <a:t>GitHub Actions cron 0 * * * * — цикл агента раз в час фоном, снапшоты в ветку state-snapshots. Закрывает слабое место «ручной запуск». Плюс золотое состояние demo_state.json как fallback демо.</a:t>
            </a:r>
          </a:p>
        </p:txBody>
      </p:sp>
      <p:sp>
        <p:nvSpPr>
          <p:cNvPr id="26" name="Text 24"/>
          <p:cNvSpPr/>
          <p:nvPr/>
        </p:nvSpPr>
        <p:spPr>
          <a:xfrm>
            <a:off x="914400" y="5824728"/>
            <a:ext cx="103327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Исправленные ошибки, уязвимости и техдолг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Показываем жюри, что команда управляет качеством MVP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11556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4983480" cy="141732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64008" cy="1417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850392" y="158191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Стабильность демо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0392" y="1984248"/>
            <a:ext cx="466344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Fallback при недоступности AI API; разделение реальных RSS и demo-данных; повторный запуск без полной потери состояния.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4983480" cy="141732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64008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6382512" y="158191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Данные и дубли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82512" y="1984248"/>
            <a:ext cx="466344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Память обработанных URL; фокус на дедупликации похожих новостей; контроль качества источников перед расширением пула.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85800" y="3337560"/>
            <a:ext cx="4983480" cy="141732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685800" y="3337560"/>
            <a:ext cx="64008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850392" y="35021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Безопасность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0392" y="3904488"/>
            <a:ext cx="466344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API-ключи через .env; приватные HR-данные не используются в MVP; для production нужна авторизация и разграничение доступа.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6217920" y="3337560"/>
            <a:ext cx="4983480" cy="1417320"/>
          </a:xfrm>
          <a:prstGeom prst="roundRect">
            <a:avLst>
              <a:gd name="adj" fmla="val 1161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6217920" y="3337560"/>
            <a:ext cx="64008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6382512" y="35021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Техдолг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82512" y="3904488"/>
            <a:ext cx="466344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JSON-хранилище, ручной запуск, один пользователь, rule-based риск-скор. План: PostgreSQL/Redis, cron/Celery, тестовые метрики.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1143000" y="572414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9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Репозиторий проекта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GitHub, </a:t>
            </a:r>
            <a:r>
              <a:rPr lang="en-US" sz="1050" dirty="0" err="1">
                <a:solidFill>
                  <a:srgbClr val="64748B"/>
                </a:solidFill>
              </a:rPr>
              <a:t>структура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11556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3886200" cy="406908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1051560" y="169164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3"/>
                </a:solidFill>
              </a:rPr>
              <a:t>Структура проекта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2148840"/>
            <a:ext cx="3429000" cy="2514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sz="1000">
                <a:solidFill>
                  <a:srgbClr val="334155"/>
                </a:solidFill>
                <a:latin typeface="Courier New"/>
              </a:rPr>
              <a:t>hr-ai-agent/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├─ config/sources_catalog.py    ← 26 источников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├─ dashboard/app.py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├─ src/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├─ agent/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├─ api/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│  ├─ gigachat.py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│  └─ rag.py                   ← NEW: RAG-контекст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├─ insights/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│  ├─ generator.py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│  ├─ report_generator.py      ← NEW: MD/PDF-отчёт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│  └─ filters.py               ← NEW: поиск/фильтр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├─ processing/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│  ├─ deduplicator.py          ← SimHash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│  └─ quality_metrics.py       ← NEW: Cohen κ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└─ sources/source_manager.py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├─ tests/                          ← 138 тестов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└─ fixtures/labeled_news.json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├─ data/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├─ demo_state.json              ← золотое демо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└─ quality_metrics.json         ← κ=0.87 кэш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├─ .github/workflows/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├─ tests.yml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│  └─ schedule.yml                 ← NEW: cron цикла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├─ docs/ + scripts/</a:t>
            </a:r>
          </a:p>
          <a:p>
            <a:r>
              <a:rPr sz="1000">
                <a:solidFill>
                  <a:srgbClr val="334155"/>
                </a:solidFill>
                <a:latin typeface="Courier New"/>
              </a:rPr>
              <a:t>└─ Dockerfile + requirements.txt</a:t>
            </a:r>
          </a:p>
        </p:txBody>
      </p:sp>
      <p:sp>
        <p:nvSpPr>
          <p:cNvPr id="8" name="Shape 6"/>
          <p:cNvSpPr/>
          <p:nvPr/>
        </p:nvSpPr>
        <p:spPr>
          <a:xfrm>
            <a:off x="5074920" y="1417320"/>
            <a:ext cx="2880360" cy="4069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5440680" y="169164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3"/>
                </a:solidFill>
              </a:rPr>
              <a:t>GitHub</a:t>
            </a:r>
            <a:endParaRPr lang="en-US" sz="1400" dirty="0"/>
          </a:p>
        </p:txBody>
      </p:sp>
      <p:pic>
        <p:nvPicPr>
          <p:cNvPr id="10" name="Image 0" descr="/mnt/data/rep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2148840"/>
            <a:ext cx="1737360" cy="17373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49240" y="4160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2563EB"/>
                </a:solidFill>
              </a:rPr>
              <a:t>github.com/delovar01/hr-ai-agent</a:t>
            </a:r>
            <a:endParaRPr lang="en-US" sz="920" dirty="0"/>
          </a:p>
        </p:txBody>
      </p:sp>
      <p:sp>
        <p:nvSpPr>
          <p:cNvPr id="13" name="Text 10"/>
          <p:cNvSpPr/>
          <p:nvPr/>
        </p:nvSpPr>
        <p:spPr>
          <a:xfrm>
            <a:off x="8549640" y="166420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732520" y="2148840"/>
            <a:ext cx="2240280" cy="2331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371600" y="5806440"/>
            <a:ext cx="9464040" cy="411480"/>
          </a:xfrm>
          <a:prstGeom prst="roundRect">
            <a:avLst>
              <a:gd name="adj" fmla="val 40000"/>
            </a:avLst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3"/>
          <p:cNvSpPr/>
          <p:nvPr/>
        </p:nvSpPr>
        <p:spPr>
          <a:xfrm>
            <a:off x="1645920" y="5943600"/>
            <a:ext cx="8915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563EB"/>
                </a:solidFill>
              </a:rPr>
              <a:t>Итог: MVP демонстрирует работающий сквозной путь от внешнего HR-сигнала до инсайта и риск-алерта.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1178</Words>
  <Application>Microsoft Office PowerPoint</Application>
  <PresentationFormat>Широкоэкранный</PresentationFormat>
  <Paragraphs>217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Aptos Display</vt:lpstr>
      <vt:lpstr>Arial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UrFU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AI-помощник для аналитика в блоке HR</dc:title>
  <dc:subject>HR AI Agent revised presentation</dc:subject>
  <dc:creator>ChatGPT</dc:creator>
  <cp:lastModifiedBy>d85996</cp:lastModifiedBy>
  <cp:revision>2</cp:revision>
  <dcterms:created xsi:type="dcterms:W3CDTF">2026-04-24T21:38:56Z</dcterms:created>
  <dcterms:modified xsi:type="dcterms:W3CDTF">2026-04-25T09:39:47Z</dcterms:modified>
</cp:coreProperties>
</file>