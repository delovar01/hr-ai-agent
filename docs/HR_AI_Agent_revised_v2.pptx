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894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7863840" y="-731520"/>
            <a:ext cx="5029200" cy="5029200"/>
          </a:xfrm>
          <a:prstGeom prst="arc">
            <a:avLst/>
          </a:prstGeom>
          <a:noFill/>
          <a:ln w="25400">
            <a:solidFill>
              <a:srgbClr val="C7D2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-1005840" y="4114800"/>
            <a:ext cx="3657600" cy="3657600"/>
          </a:xfrm>
          <a:prstGeom prst="arc">
            <a:avLst/>
          </a:prstGeom>
          <a:noFill/>
          <a:ln w="25400">
            <a:solidFill>
              <a:srgbClr val="BFDBFE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AI-помощник для аналитика в блоке HR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04672" y="1874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Проактивный AI-агент для мониторинга, классификации и риск-анализа HR-сигналов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205740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987552" y="2926080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2–3 ч/день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552" y="3319272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ручной мониторинг HR-новостей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08960" y="2788920"/>
            <a:ext cx="205740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273552" y="2926080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73552" y="3319272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HR-категорий риска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94960" y="2788920"/>
            <a:ext cx="214884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559552" y="2926080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RSS + 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59552" y="331927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сбор, перевод, инсайты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" y="5349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3"/>
                </a:solidFill>
              </a:rPr>
              <a:t>Команда 97 / ЛКП‑3337‑2026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66928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Заказчик: Сбербанк России, ПАО — филиал Уральский банк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78240" y="1251696"/>
            <a:ext cx="2926080" cy="33375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DE7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9113368" y="164820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Идея продукта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47988" y="2161929"/>
            <a:ext cx="23317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Не чат-бот, который ждёт вопроса, а HR-радар, который сам находит внешние сигналы, оценивает риск и показывает, на что HR-команде реагировать первым.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62288" y="3831336"/>
            <a:ext cx="2103120" cy="292608"/>
          </a:xfrm>
          <a:prstGeom prst="roundRect">
            <a:avLst>
              <a:gd name="adj" fmla="val 4375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9181461" y="3902423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State + Rules + Actions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Целевая аудитория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Три роли HR-пользователей и разные сценарии принятия решений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3337560" cy="4160520"/>
          </a:xfrm>
          <a:prstGeom prst="roundRect">
            <a:avLst>
              <a:gd name="adj" fmla="val 49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4008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50392" y="1673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HR-аналитик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075688"/>
            <a:ext cx="3017520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Сценарий: ежедневный обзор рынка труда, зарплат, найма и сокращений.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Ценность: меньше ручного мониторинга, быстрее подготовка сводки.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KPI: время подготовки обзора, число найденных значимых сигналов, доля дублей после фильтрации.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337560" cy="4160520"/>
          </a:xfrm>
          <a:prstGeom prst="roundRect">
            <a:avLst>
              <a:gd name="adj" fmla="val 49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64008" cy="4160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599432" y="1673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HR-партнёр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2075688"/>
            <a:ext cx="3017520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Сценарий: отслеживание сигналов по культуре, выгоранию и навыкам для бизнес-подразделений.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Ценность: ранние предупреждения и рекомендации для команд.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KPI: скорость реакции на риски, релевантность инициатив, снижение риска выгорания.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183880" y="1508760"/>
            <a:ext cx="3337560" cy="4160520"/>
          </a:xfrm>
          <a:prstGeom prst="roundRect">
            <a:avLst>
              <a:gd name="adj" fmla="val 49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8183880" y="1508760"/>
            <a:ext cx="64008" cy="4160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348472" y="1673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HR-руководитель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2075688"/>
            <a:ext cx="3017520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Сценарий: краткая управленческая сводка по самым важным рискам и трендам.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Ценность: единая картина для стратегических решений.</a:t>
            </a:r>
            <a:endParaRPr lang="en-US" sz="960" dirty="0"/>
          </a:p>
          <a:p>
            <a:pPr marL="0" indent="0">
              <a:buNone/>
            </a:pP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KPI: скорость принятия решений, своевременность эскалаций, качество HR-стратегии.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Потребности целевой аудитории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Какие боли закрывает MVP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Боль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5468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Почему мешает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609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Как закрываем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673352"/>
            <a:ext cx="224028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063240" y="1673352"/>
            <a:ext cx="388620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7269480" y="1673352"/>
            <a:ext cx="4160520" cy="749808"/>
          </a:xfrm>
          <a:prstGeom prst="roundRect">
            <a:avLst>
              <a:gd name="adj" fmla="val 21951"/>
            </a:avLst>
          </a:prstGeom>
          <a:solidFill>
            <a:srgbClr val="F0FDF4"/>
          </a:solidFill>
          <a:ln w="12700">
            <a:solidFill>
              <a:srgbClr val="CFEAD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41248" y="18562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Слишком много источников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178308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HR-новости, исследования, карьерные медиа и профессиональные сообщества приходится смотреть вручную.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452360" y="181051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Курируемый пул источников и единый цикл мониторинга.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898648" y="2048256"/>
            <a:ext cx="146304" cy="0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7059168" y="2048256"/>
            <a:ext cx="192024" cy="0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85800" y="2660904"/>
            <a:ext cx="224028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3063240" y="2660904"/>
            <a:ext cx="388620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7269480" y="2660904"/>
            <a:ext cx="416052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CFEAD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841248" y="2843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Англоязычные материалы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277063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Глобальные сигналы важны, но требуют перевода и адаптации терминологии.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7452360" y="279806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Перевод через GigaChat с сохранением HR-контекста.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898648" y="3035808"/>
            <a:ext cx="146304" cy="0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7059168" y="3035808"/>
            <a:ext cx="192024" cy="0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685800" y="3648456"/>
            <a:ext cx="224028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3063240" y="3648456"/>
            <a:ext cx="388620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7269480" y="3648456"/>
            <a:ext cx="4160520" cy="749808"/>
          </a:xfrm>
          <a:prstGeom prst="roundRect">
            <a:avLst>
              <a:gd name="adj" fmla="val 21951"/>
            </a:avLst>
          </a:prstGeom>
          <a:solidFill>
            <a:srgbClr val="F0FDF4"/>
          </a:solidFill>
          <a:ln w="12700">
            <a:solidFill>
              <a:srgbClr val="CFEAD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841248" y="38313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Дубли и информационный шум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46120" y="375818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Одна и та же новость появляется в разных источниках, аналитик тратит время повторно.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452360" y="378561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Дедупликация и память обработанных URL.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2898648" y="4023360"/>
            <a:ext cx="146304" cy="0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7059168" y="4023360"/>
            <a:ext cx="192024" cy="0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685800" y="4636008"/>
            <a:ext cx="224028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3063240" y="4636008"/>
            <a:ext cx="388620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7269480" y="4636008"/>
            <a:ext cx="416052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CFEAD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841248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</a:rPr>
              <a:t>Нет приоритизации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46120" y="474573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Неочевидно, что является просто новостью, а что — риском для HR-решений.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7452360" y="477316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Риск-скор, алерты и тематические тренды.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2898648" y="5010912"/>
            <a:ext cx="146304" cy="0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9" name="Shape 37"/>
          <p:cNvSpPr/>
          <p:nvPr/>
        </p:nvSpPr>
        <p:spPr>
          <a:xfrm>
            <a:off x="7059168" y="5010912"/>
            <a:ext cx="192024" cy="0"/>
          </a:xfrm>
          <a:prstGeom prst="line">
            <a:avLst/>
          </a:prstGeom>
          <a:noFill/>
          <a:ln w="17780">
            <a:solidFill>
              <a:srgbClr val="E2E8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40" name="Shape 38"/>
          <p:cNvSpPr/>
          <p:nvPr/>
        </p:nvSpPr>
        <p:spPr>
          <a:xfrm>
            <a:off x="777240" y="5715000"/>
            <a:ext cx="214884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941832" y="5852160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2–3 часа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941832" y="62453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экономимый ориентир ручного мониторинга в день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46120" y="58704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Ценность MVP: сократить путь от “прочитать много новостей” до “понять, какой HR-риск требует внимания”.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Конкуренты и аналоги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Сравнение с универсальными AI-инструментами и HR-аналитикой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600200" cy="457200"/>
          </a:xfrm>
          <a:prstGeom prst="roundRect">
            <a:avLst>
              <a:gd name="adj" fmla="val 36000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76072" y="146304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3"/>
                </a:solidFill>
              </a:rPr>
              <a:t>Критерий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1325880"/>
            <a:ext cx="2606040" cy="457200"/>
          </a:xfrm>
          <a:prstGeom prst="roundRect">
            <a:avLst>
              <a:gd name="adj" fmla="val 36000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2359152" y="1463040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3"/>
                </a:solidFill>
              </a:rPr>
              <a:t>ChatGPT / Perplexity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66360" y="1325880"/>
            <a:ext cx="2423160" cy="457200"/>
          </a:xfrm>
          <a:prstGeom prst="roundRect">
            <a:avLst>
              <a:gd name="adj" fmla="val 36000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239512" y="1463040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3"/>
                </a:solidFill>
              </a:rPr>
              <a:t>hh.ru аналитика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18120" y="1325880"/>
            <a:ext cx="3749040" cy="457200"/>
          </a:xfrm>
          <a:prstGeom prst="roundRect">
            <a:avLst>
              <a:gd name="adj" fmla="val 36000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891272" y="1463040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HR AI Agent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1828800"/>
            <a:ext cx="160020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76072" y="1929384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B1F33"/>
                </a:solidFill>
              </a:rPr>
              <a:t>Фокус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2286000" y="1828800"/>
            <a:ext cx="260604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2359152" y="1929384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Ответы и поиск по запросу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5166360" y="1828800"/>
            <a:ext cx="242316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239512" y="1929384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Рынок труда РФ: вакансии, резюме, зарплаты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7818120" y="1828800"/>
            <a:ext cx="3749040" cy="585216"/>
          </a:xfrm>
          <a:prstGeom prst="roundRect">
            <a:avLst>
              <a:gd name="adj" fmla="val 28125"/>
            </a:avLst>
          </a:prstGeom>
          <a:solidFill>
            <a:srgbClr val="F8FB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7891272" y="192938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Мониторинг HR-сигналов и риск-алерты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02920" y="2542032"/>
            <a:ext cx="160020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576072" y="2642616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B1F33"/>
                </a:solidFill>
              </a:rPr>
              <a:t>Проактивность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2286000" y="2542032"/>
            <a:ext cx="260604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2359152" y="2642616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Нет, нужен запрос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5166360" y="2542032"/>
            <a:ext cx="242316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5239512" y="2642616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Нет, пользователь сам смотрит показатели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7818120" y="2542032"/>
            <a:ext cx="3749040" cy="585216"/>
          </a:xfrm>
          <a:prstGeom prst="roundRect">
            <a:avLst>
              <a:gd name="adj" fmla="val 28125"/>
            </a:avLst>
          </a:prstGeom>
          <a:solidFill>
            <a:srgbClr val="F8FB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7891272" y="2642616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Да, агент сам обрабатывает поток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02920" y="3255264"/>
            <a:ext cx="160020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76072" y="3355848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B1F33"/>
                </a:solidFill>
              </a:rPr>
              <a:t>HR-классификация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2286000" y="3255264"/>
            <a:ext cx="260604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2359152" y="3355848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Через промпт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5166360" y="3255264"/>
            <a:ext cx="242316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5239512" y="3355848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По рыночным показателям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7818120" y="3255264"/>
            <a:ext cx="3749040" cy="585216"/>
          </a:xfrm>
          <a:prstGeom prst="roundRect">
            <a:avLst>
              <a:gd name="adj" fmla="val 28125"/>
            </a:avLst>
          </a:prstGeom>
          <a:solidFill>
            <a:srgbClr val="F8FB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7891272" y="3355848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7 встроенных HR-категорий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502920" y="3968496"/>
            <a:ext cx="160020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576072" y="40690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B1F33"/>
                </a:solidFill>
              </a:rPr>
              <a:t>Память и тренды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2286000" y="3968496"/>
            <a:ext cx="260604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2359152" y="4069080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Ограниченно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5166360" y="3968496"/>
            <a:ext cx="242316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5239512" y="4069080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Есть рыночная динамика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7818120" y="3968496"/>
            <a:ext cx="3749040" cy="585216"/>
          </a:xfrm>
          <a:prstGeom prst="roundRect">
            <a:avLst>
              <a:gd name="adj" fmla="val 28125"/>
            </a:avLst>
          </a:prstGeom>
          <a:solidFill>
            <a:srgbClr val="F8FB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7891272" y="406908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Персистентное состояние: trends / insights / alerts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502920" y="4681728"/>
            <a:ext cx="160020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576072" y="478231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B1F33"/>
                </a:solidFill>
              </a:rPr>
              <a:t>Результат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2286000" y="4681728"/>
            <a:ext cx="260604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2359152" y="4782312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Ответ, ссылки, резюме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5166360" y="4681728"/>
            <a:ext cx="2423160" cy="585216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5239512" y="4782312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Статистика и отчёты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7818120" y="4681728"/>
            <a:ext cx="3749040" cy="585216"/>
          </a:xfrm>
          <a:prstGeom prst="roundRect">
            <a:avLst>
              <a:gd name="adj" fmla="val 28125"/>
            </a:avLst>
          </a:prstGeom>
          <a:solidFill>
            <a:srgbClr val="F8FB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7891272" y="4782312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334155"/>
                </a:solidFill>
              </a:rPr>
              <a:t>Инсайты: что произошло → почему важно → что делать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685800" y="5715000"/>
            <a:ext cx="10835640" cy="502920"/>
          </a:xfrm>
          <a:prstGeom prst="roundRect">
            <a:avLst>
              <a:gd name="adj" fmla="val 32727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914400" y="5870448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</a:rPr>
              <a:t>УТП: специализированный HR-радар — курируемые источники, доменная классификация, риск-скор, дедупликация и память агента.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Предложенное решение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Как MVP превращает новостной поток в HR-решение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901952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DDE7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22376" y="171907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722376" y="18196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52728" y="1682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Сбор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52728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RSS-источники и демо-данные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2084832"/>
            <a:ext cx="29260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2898648" y="1508760"/>
            <a:ext cx="1901952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DDE7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3026664" y="171907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3026664" y="18196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57016" y="1682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AI-обработка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57016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перевод и классификация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18888" y="2084832"/>
            <a:ext cx="29260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202936" y="1508760"/>
            <a:ext cx="1901952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DDE7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5330952" y="171907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330952" y="18196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61304" y="1682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Фильтрация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61304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дедупликация и память URL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23176" y="2084832"/>
            <a:ext cx="29260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7507224" y="1508760"/>
            <a:ext cx="1901952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DDE7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7635240" y="171907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7635240" y="18196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65592" y="1682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Оценка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65592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риск-скор и аномалии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427464" y="2084832"/>
            <a:ext cx="29260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9811512" y="1508760"/>
            <a:ext cx="1901952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DDE7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9939528" y="171907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9939528" y="18196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69880" y="1682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Действие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469880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инсайты и алерты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77240" y="3246120"/>
            <a:ext cx="3246120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777240" y="3246120"/>
            <a:ext cx="64008" cy="2148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941832" y="3410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Преимущества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41832" y="3813048"/>
            <a:ext cx="292608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автоматизация мониторинга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персонализация под роль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объяснимый риск-скор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единый интерфейс для инсайтов и алертов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4434840" y="3246120"/>
            <a:ext cx="3246120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Shape 37"/>
          <p:cNvSpPr/>
          <p:nvPr/>
        </p:nvSpPr>
        <p:spPr>
          <a:xfrm>
            <a:off x="4434840" y="3246120"/>
            <a:ext cx="64008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4599432" y="3410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Недостатки MVP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99432" y="3813048"/>
            <a:ext cx="292608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960">
                <a:solidFill>
                  <a:srgbClr val="334155"/>
                </a:solidFill>
              </a:rPr>
              <a:t>• ограниченный пул внешних API</a:t>
            </a:r>
          </a:p>
          <a:p>
            <a:r>
              <a:rPr sz="960">
                <a:solidFill>
                  <a:srgbClr val="334155"/>
                </a:solidFill>
              </a:rPr>
              <a:t>• локальное JSON-состояние</a:t>
            </a:r>
          </a:p>
          <a:p>
            <a:r>
              <a:rPr sz="960">
                <a:solidFill>
                  <a:srgbClr val="334155"/>
                </a:solidFill>
              </a:rPr>
              <a:t>• ручной запуск цикла</a:t>
            </a:r>
          </a:p>
          <a:p>
            <a:r>
              <a:rPr sz="960">
                <a:solidFill>
                  <a:srgbClr val="334155"/>
                </a:solidFill>
              </a:rPr>
              <a:t>• датасет разметки на стадии расширения</a:t>
            </a:r>
          </a:p>
        </p:txBody>
      </p:sp>
      <p:sp>
        <p:nvSpPr>
          <p:cNvPr id="42" name="Shape 40"/>
          <p:cNvSpPr/>
          <p:nvPr/>
        </p:nvSpPr>
        <p:spPr>
          <a:xfrm>
            <a:off x="8092440" y="3246120"/>
            <a:ext cx="3246120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Shape 41"/>
          <p:cNvSpPr/>
          <p:nvPr/>
        </p:nvSpPr>
        <p:spPr>
          <a:xfrm>
            <a:off x="8092440" y="3246120"/>
            <a:ext cx="64008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8257032" y="3410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Уникальность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257032" y="3813048"/>
            <a:ext cx="292608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не ждёт промпта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работает с HR-категориями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запоминает обработанные материалы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выдаёт не текстовый ответ, а приоритетный сигнал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Методология источников и классификации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Почему данные контролируемые, а не случайный веб-поиск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64008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50392" y="1581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Курируемый пул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1984248"/>
            <a:ext cx="333756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960">
                <a:solidFill>
                  <a:srgbClr val="334155"/>
                </a:solidFill>
              </a:rPr>
              <a:t>Каталог содержит 26 источников: 14 активных и 12 кандидатов на A/B-тестирование. У каждого зафиксированы quality_score, topics_covered, region и обоснование выбора rationale.</a:t>
            </a:r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64008" cy="2057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690872" y="15819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Критерии качества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0872" y="1984248"/>
            <a:ext cx="324612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Релевантность HR, авторитетность, регулярность обновлений, доступность RSS/API, уровень шума, география, язык, доля дублей.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275320" y="1417320"/>
            <a:ext cx="32461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8275320" y="1417320"/>
            <a:ext cx="64008" cy="2057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439912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7 HR-категорий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39912" y="1984248"/>
            <a:ext cx="292608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hiring, layoffs, salaries, skills, burnout, culture, diversity. Этого достаточно для понятной MVP-классификации без перегруза интерфейса.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14400" y="3977640"/>
            <a:ext cx="1234440" cy="292608"/>
          </a:xfrm>
          <a:prstGeom prst="roundRect">
            <a:avLst>
              <a:gd name="adj" fmla="val 4375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987552" y="404164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hiring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87168" y="3977640"/>
            <a:ext cx="1234440" cy="292608"/>
          </a:xfrm>
          <a:prstGeom prst="roundRect">
            <a:avLst>
              <a:gd name="adj" fmla="val 4375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2560320" y="404164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layoffs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59936" y="3977640"/>
            <a:ext cx="1234440" cy="292608"/>
          </a:xfrm>
          <a:prstGeom prst="roundRect">
            <a:avLst>
              <a:gd name="adj" fmla="val 4375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133088" y="404164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salaries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32704" y="3977640"/>
            <a:ext cx="1234440" cy="292608"/>
          </a:xfrm>
          <a:prstGeom prst="roundRect">
            <a:avLst>
              <a:gd name="adj" fmla="val 4375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705856" y="404164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skills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05472" y="3977640"/>
            <a:ext cx="1234440" cy="292608"/>
          </a:xfrm>
          <a:prstGeom prst="roundRect">
            <a:avLst>
              <a:gd name="adj" fmla="val 4375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7278624" y="404164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burnout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778240" y="3977640"/>
            <a:ext cx="1234440" cy="292608"/>
          </a:xfrm>
          <a:prstGeom prst="roundRect">
            <a:avLst>
              <a:gd name="adj" fmla="val 4375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8851392" y="404164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culture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351008" y="3977640"/>
            <a:ext cx="1234440" cy="292608"/>
          </a:xfrm>
          <a:prstGeom prst="roundRect">
            <a:avLst>
              <a:gd name="adj" fmla="val 4375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10424160" y="404164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diversity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" y="4800600"/>
            <a:ext cx="1083564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960120" y="5065776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3"/>
                </a:solidFill>
              </a:rPr>
              <a:t>Почему не “весь интернет”: широкий поиск даёт больше шума и дублей. Для HR-аналитика важнее управляемое качество источников и повторяемый сценарий анализа.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Архитектура решения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Обоснованный агентный цикл: State + Rules + Actions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87452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DE7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04088" y="17373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Источники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" y="20299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RSS / demo data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496312" y="1984248"/>
            <a:ext cx="310896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2862072" y="1508760"/>
            <a:ext cx="187452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DE7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2971800" y="17373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20299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язык, перевод, классификация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764024" y="1984248"/>
            <a:ext cx="310896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129784" y="1508760"/>
            <a:ext cx="187452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DE7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239512" y="17373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Rules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9512" y="20299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риск-скор, пороги, аномалии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031736" y="1984248"/>
            <a:ext cx="310896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7397496" y="1508760"/>
            <a:ext cx="187452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DE7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507224" y="17373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State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07224" y="20299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processed URLs, trends, insights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9299448" y="1984248"/>
            <a:ext cx="310896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9665208" y="1508760"/>
            <a:ext cx="187452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DE7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9774936" y="17373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74936" y="20299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инсайты, алерты, тренды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77240" y="3063240"/>
            <a:ext cx="3337560" cy="2240280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777240" y="3063240"/>
            <a:ext cx="64008" cy="2240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941832" y="3227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Сильные места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1832" y="3630168"/>
            <a:ext cx="3017520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простая модульная структура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понятная логика агента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можно отдельно улучшать источники, AI и правила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состояние позволяет не обрабатывать одно и то же повторно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434840" y="3063240"/>
            <a:ext cx="3337560" cy="2240280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4434840" y="306324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599432" y="3227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Слабые места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3630168"/>
            <a:ext cx="3017520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JSON не подходит для промышленной нагрузки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ручной запуск не полностью проактивен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rule-based риск-скор требует валидации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внешние API требуют контроля доступности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8092440" y="3063240"/>
            <a:ext cx="3337560" cy="2240280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8092440" y="3063240"/>
            <a:ext cx="64008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8257032" y="3227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Как масштабировать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57032" y="3630168"/>
            <a:ext cx="3017520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PostgreSQL / Redis для состояния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Celery / cron для фонового запуска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авторизация и роли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очереди обработки источников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• метрики качества классификации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Применение ИИ в проекте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GigaChat используется там, где нужна языковая и смысловая обработка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56032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96112" y="1581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1. Перевод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984248"/>
            <a:ext cx="22402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Англоязычные HR-новости переводятся на русский с сохранением терминологии.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611880" y="1417320"/>
            <a:ext cx="256032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611880" y="1417320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776472" y="1581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2. Классификация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76472" y="1984248"/>
            <a:ext cx="22402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Материалы распределяются по HR-темам, чтобы пользователь видел не ленту, а структуру.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492240" y="1417320"/>
            <a:ext cx="256032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6492240" y="1417320"/>
            <a:ext cx="6400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656832" y="1581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3. Инсайты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56832" y="1984248"/>
            <a:ext cx="22402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AI формирует ответ в формате: что произошло → почему важно → что делать.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372600" y="1417320"/>
            <a:ext cx="210312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9372600" y="141732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9537192" y="1581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4. Тренды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537192" y="1984248"/>
            <a:ext cx="17830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AI помогает интерпретировать изменения и объяснять динамику рисков.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77240" y="3474720"/>
            <a:ext cx="1069848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1051560" y="3803904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Почему так: LLM не заменяет всю систему, а решает конкретные задачи обработки языка. Бизнес-логика остаётся в правилах, состоянии и конфигурации агента.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51389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Доработки за итерацию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2423160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273552" y="1417320"/>
            <a:ext cx="8183880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40" b="1">
                <a:solidFill>
                  <a:srgbClr val="0B1F33"/>
                </a:solidFill>
              </a:rPr>
              <a:t>Тесты и CI</a:t>
            </a:r>
          </a:p>
        </p:txBody>
      </p:sp>
      <p:sp>
        <p:nvSpPr>
          <p:cNvPr id="8" name="Text 6"/>
          <p:cNvSpPr/>
          <p:nvPr/>
        </p:nvSpPr>
        <p:spPr>
          <a:xfrm>
            <a:off x="3520440" y="1563624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940">
                <a:solidFill>
                  <a:srgbClr val="334155"/>
                </a:solidFill>
              </a:rPr>
              <a:t>109 автотестов проходят зелёными, CI на GitHub Actions с матрицей Python 3.10 / 3.11, Ruff lint и pytest-coverage.</a:t>
            </a:r>
          </a:p>
        </p:txBody>
      </p:sp>
      <p:sp>
        <p:nvSpPr>
          <p:cNvPr id="9" name="Shape 7"/>
          <p:cNvSpPr/>
          <p:nvPr/>
        </p:nvSpPr>
        <p:spPr>
          <a:xfrm>
            <a:off x="685800" y="2212848"/>
            <a:ext cx="2423160" cy="566928"/>
          </a:xfrm>
          <a:prstGeom prst="roundRect">
            <a:avLst>
              <a:gd name="adj" fmla="val 2903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273552" y="2212848"/>
            <a:ext cx="8183880" cy="566928"/>
          </a:xfrm>
          <a:prstGeom prst="roundRect">
            <a:avLst>
              <a:gd name="adj" fmla="val 2903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68680" y="239572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40" b="1">
                <a:solidFill>
                  <a:srgbClr val="0B1F33"/>
                </a:solidFill>
              </a:rPr>
              <a:t>Авторегуляция пула</a:t>
            </a:r>
          </a:p>
        </p:txBody>
      </p:sp>
      <p:sp>
        <p:nvSpPr>
          <p:cNvPr id="12" name="Text 10"/>
          <p:cNvSpPr/>
          <p:nvPr/>
        </p:nvSpPr>
        <p:spPr>
          <a:xfrm>
            <a:off x="3520440" y="2359152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940">
                <a:solidFill>
                  <a:srgbClr val="334155"/>
                </a:solidFill>
              </a:rPr>
              <a:t>Модуль source_manager отслеживает duplicate_rate и активность источников и автоматически рекомендует деактивацию шумных и активацию ценных кандидатов.</a:t>
            </a:r>
          </a:p>
        </p:txBody>
      </p:sp>
      <p:sp>
        <p:nvSpPr>
          <p:cNvPr id="13" name="Shape 11"/>
          <p:cNvSpPr/>
          <p:nvPr/>
        </p:nvSpPr>
        <p:spPr>
          <a:xfrm>
            <a:off x="685800" y="3008376"/>
            <a:ext cx="2423160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3273552" y="3008376"/>
            <a:ext cx="8183880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68680" y="319125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40" b="1">
                <a:solidFill>
                  <a:srgbClr val="0B1F33"/>
                </a:solidFill>
              </a:rPr>
              <a:t>Аналитика источников</a:t>
            </a:r>
          </a:p>
        </p:txBody>
      </p:sp>
      <p:sp>
        <p:nvSpPr>
          <p:cNvPr id="16" name="Text 14"/>
          <p:cNvSpPr/>
          <p:nvPr/>
        </p:nvSpPr>
        <p:spPr>
          <a:xfrm>
            <a:off x="3520440" y="3154680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940">
                <a:solidFill>
                  <a:srgbClr val="334155"/>
                </a:solidFill>
              </a:rPr>
              <a:t>source_analytics считает per-source метрики: items_fetched, duplicate_rate, avg_risk_score, topic_coverage, unique_contribution — реальные цифры в дашборде.</a:t>
            </a:r>
          </a:p>
        </p:txBody>
      </p:sp>
      <p:sp>
        <p:nvSpPr>
          <p:cNvPr id="17" name="Shape 15"/>
          <p:cNvSpPr/>
          <p:nvPr/>
        </p:nvSpPr>
        <p:spPr>
          <a:xfrm>
            <a:off x="685800" y="3803904"/>
            <a:ext cx="2423160" cy="566928"/>
          </a:xfrm>
          <a:prstGeom prst="roundRect">
            <a:avLst>
              <a:gd name="adj" fmla="val 2903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3273552" y="3803904"/>
            <a:ext cx="8183880" cy="566928"/>
          </a:xfrm>
          <a:prstGeom prst="roundRect">
            <a:avLst>
              <a:gd name="adj" fmla="val 2903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868680" y="398678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40" b="1">
                <a:solidFill>
                  <a:srgbClr val="0B1F33"/>
                </a:solidFill>
              </a:rPr>
              <a:t>SimHash-дедупликация</a:t>
            </a:r>
          </a:p>
        </p:txBody>
      </p:sp>
      <p:sp>
        <p:nvSpPr>
          <p:cNvPr id="20" name="Text 18"/>
          <p:cNvSpPr/>
          <p:nvPr/>
        </p:nvSpPr>
        <p:spPr>
          <a:xfrm>
            <a:off x="3520440" y="3950208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940">
                <a:solidFill>
                  <a:srgbClr val="334155"/>
                </a:solidFill>
              </a:rPr>
              <a:t>Двухуровневая фильтрация: URL-уровень и контентный SimHash. Самописная имплементация без внешних зависимостей, видны кросс-источниковые дубли.</a:t>
            </a:r>
          </a:p>
        </p:txBody>
      </p:sp>
      <p:sp>
        <p:nvSpPr>
          <p:cNvPr id="21" name="Shape 19"/>
          <p:cNvSpPr/>
          <p:nvPr/>
        </p:nvSpPr>
        <p:spPr>
          <a:xfrm>
            <a:off x="685800" y="4599432"/>
            <a:ext cx="2423160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3273552" y="4599432"/>
            <a:ext cx="8183880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868680" y="478231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40" b="1">
                <a:solidFill>
                  <a:srgbClr val="0B1F33"/>
                </a:solidFill>
              </a:rPr>
              <a:t>Качество классификации</a:t>
            </a:r>
          </a:p>
        </p:txBody>
      </p:sp>
      <p:sp>
        <p:nvSpPr>
          <p:cNvPr id="24" name="Text 22"/>
          <p:cNvSpPr/>
          <p:nvPr/>
        </p:nvSpPr>
        <p:spPr>
          <a:xfrm>
            <a:off x="3520440" y="4745736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940">
                <a:solidFill>
                  <a:srgbClr val="334155"/>
                </a:solidFill>
              </a:rPr>
              <a:t>Размеченный датасет labeled_news.json (35 новостей, 7 HR-тем, RU/EN). По нему считается Cohen's Kappa между разметчиками — верхняя граница качества модели.</a:t>
            </a:r>
          </a:p>
        </p:txBody>
      </p:sp>
      <p:sp>
        <p:nvSpPr>
          <p:cNvPr id="26" name="Text 24"/>
          <p:cNvSpPr/>
          <p:nvPr/>
        </p:nvSpPr>
        <p:spPr>
          <a:xfrm>
            <a:off x="914400" y="5824728"/>
            <a:ext cx="10332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Исправленные ошибки, уязвимости и техдолг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Показываем жюри, что команда управляет качеством MVP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498348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6400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50392" y="15819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Стабильность демо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1984248"/>
            <a:ext cx="46634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Fallback при недоступности AI API; разделение реальных RSS и demo-данных; повторный запуск без полной потери состояния.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498348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382512" y="15819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Данные и дубли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82512" y="1984248"/>
            <a:ext cx="46634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Память обработанных URL; фокус на дедупликации похожих новостей; контроль качества источников перед расширением пула.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85800" y="3337560"/>
            <a:ext cx="498348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685800" y="3337560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50392" y="3502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Безопасность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" y="3904488"/>
            <a:ext cx="46634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API-ключи через .env; приватные HR-данные не используются в MVP; для production нужна авторизация и разграничение доступа.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217920" y="3337560"/>
            <a:ext cx="498348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6217920" y="333756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382512" y="3502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Техдолг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2512" y="3904488"/>
            <a:ext cx="46634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JSON-хранилище, ручной запуск, один пользователь, rule-based риск-скор. План: PostgreSQL/Redis, cron/Celery, тестовые метрики.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1143000" y="572414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Репозиторий проекта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GitHub, </a:t>
            </a:r>
            <a:r>
              <a:rPr lang="en-US" sz="1050" dirty="0" err="1">
                <a:solidFill>
                  <a:srgbClr val="64748B"/>
                </a:solidFill>
              </a:rPr>
              <a:t>структура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886200" cy="4069080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051560" y="1691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Структура проекта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148840"/>
            <a:ext cx="342900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000">
                <a:solidFill>
                  <a:srgbClr val="334155"/>
                </a:solidFill>
                <a:latin typeface="Courier New"/>
              </a:rPr>
              <a:t>hr-ai-agent/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├─ config/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│  ├─ settings.py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│  └─ sources_catalog.py   ← 26 источников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├─ dashboard/app.py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├─ src/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│  ├─ agent/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│  ├─ processing/deduplicator.py  ← SimHash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│  ├─ sources/source_manager.py   ← авторегуляция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│  └─ sources/source_analytics.py ← per-source метрики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├─ tests/                  ← 109 тестов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│  └─ fixtures/labeled_news.json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├─ docs/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│  ├─ METHODOLOGY.md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│  └─ defense_script_mvp.md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├─ scripts/demo_start.{sh,ps1}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├─ .github/workflows/tests.yml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├─ Dockerfile + docker-compose.yml</a:t>
            </a:r>
          </a:p>
          <a:p>
            <a:r>
              <a:rPr sz="1000">
                <a:solidFill>
                  <a:srgbClr val="334155"/>
                </a:solidFill>
                <a:latin typeface="Courier New"/>
              </a:rPr>
              <a:t>└─ requirements.txt + requirements-dev.txt</a:t>
            </a:r>
          </a:p>
        </p:txBody>
      </p:sp>
      <p:sp>
        <p:nvSpPr>
          <p:cNvPr id="8" name="Shape 6"/>
          <p:cNvSpPr/>
          <p:nvPr/>
        </p:nvSpPr>
        <p:spPr>
          <a:xfrm>
            <a:off x="5074920" y="1417320"/>
            <a:ext cx="2880360" cy="4069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40680" y="1691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GitHub</a:t>
            </a:r>
            <a:endParaRPr lang="en-US" sz="1400" dirty="0"/>
          </a:p>
        </p:txBody>
      </p:sp>
      <p:pic>
        <p:nvPicPr>
          <p:cNvPr id="10" name="Image 0" descr="/mnt/data/rep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148840"/>
            <a:ext cx="1737360" cy="1737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49240" y="4160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2563EB"/>
                </a:solidFill>
              </a:rPr>
              <a:t>github.com/delovar01/hr-ai-agent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8549640" y="166420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32520" y="2148840"/>
            <a:ext cx="224028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371600" y="5806440"/>
            <a:ext cx="9464040" cy="411480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1645920" y="5943600"/>
            <a:ext cx="8915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</a:rPr>
              <a:t>Итог: MVP демонстрирует работающий сквозной путь от внешнего HR-сигнала до инсайта и риск-алерта.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1178</Words>
  <Application>Microsoft Office PowerPoint</Application>
  <PresentationFormat>Широкоэкранный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 Display</vt:lpstr>
      <vt:lpstr>Arial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UrFU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AI-помощник для аналитика в блоке HR</dc:title>
  <dc:subject>HR AI Agent revised presentation</dc:subject>
  <dc:creator>ChatGPT</dc:creator>
  <cp:lastModifiedBy>d85996</cp:lastModifiedBy>
  <cp:revision>2</cp:revision>
  <dcterms:created xsi:type="dcterms:W3CDTF">2026-04-24T21:38:56Z</dcterms:created>
  <dcterms:modified xsi:type="dcterms:W3CDTF">2026-04-25T09:39:47Z</dcterms:modified>
</cp:coreProperties>
</file>